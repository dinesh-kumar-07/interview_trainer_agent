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90" r:id="rId2"/>
    <p:sldId id="291" r:id="rId3"/>
    <p:sldId id="292" r:id="rId4"/>
    <p:sldId id="293" r:id="rId5"/>
    <p:sldId id="310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11" r:id="rId17"/>
    <p:sldId id="312" r:id="rId18"/>
    <p:sldId id="313" r:id="rId19"/>
    <p:sldId id="314" r:id="rId20"/>
    <p:sldId id="315" r:id="rId21"/>
    <p:sldId id="316" r:id="rId22"/>
    <p:sldId id="304" r:id="rId23"/>
    <p:sldId id="305" r:id="rId24"/>
    <p:sldId id="306" r:id="rId25"/>
    <p:sldId id="307" r:id="rId26"/>
    <p:sldId id="308" r:id="rId27"/>
    <p:sldId id="309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59CF5FE-A9FD-7E41-D673-3BB809E7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E8BBF36-9337-9B41-8B6D-5CE978C37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54DCCF8-975F-55D3-89AC-CD2758F1D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0496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0F649F6-211E-23E4-AD48-CCA4CB86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492E4B11-09C5-8C5F-9882-5C31F2E68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ED7201E2-2DFE-FBDD-2FCA-5D8DC59BE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3418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5958A67-A6B0-4A2D-55FF-D6E5B4681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36CCC590-DB4F-11DD-7865-FC86567AF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A2E1DD2-9FC5-D735-EB04-91ADD609E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8641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1F8847F5-F96C-4B0E-95EF-8305006B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9998AEE-513A-375B-E44D-CF59D048F1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2F7730-F7B8-16CA-8685-FABAEA691E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6160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9AA7A6EE-6470-26A4-CD4E-6D573A6B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7268779D-8567-E5A9-CDD4-F9E06C0A9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6E13596-45B5-B564-009A-AE1D920F0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25901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66CC8624-6B95-A934-A87F-D7D59197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C988748-E7BE-8345-F76E-D90DAE4C7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279B03B6-AA00-409B-846B-2BFE58D14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30464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6E6C2FCD-BD1C-2578-1F79-DB437F32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1CC2D664-A22A-0465-BBEF-ECD5113D4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6381F039-A34B-45FC-2E27-D4B06CF43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1600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nesh-kumar-07/Interview_Trainer_Agen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11996156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DINESH KUMAR G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dineshkumargdk27@gmail.com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+91 8072035825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dirty="0"/>
              <a:t> </a:t>
            </a:r>
            <a:r>
              <a:rPr lang="en-IN" sz="2800" dirty="0"/>
              <a:t>Education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800" b="1" dirty="0"/>
              <a:t> Interview Trainer Agent</a:t>
            </a:r>
            <a:endParaRPr lang="en-IN" sz="28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001B8-CA87-2120-D23E-2A040F322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258" y="3709302"/>
            <a:ext cx="668235" cy="85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Interview Trainer Agent</a:t>
            </a:r>
            <a:r>
              <a:rPr lang="en-US" sz="2000" dirty="0"/>
              <a:t> </a:t>
            </a:r>
            <a:endParaRPr lang="en-US" sz="2000" b="1" dirty="0"/>
          </a:p>
          <a:p>
            <a:pPr fontAlgn="base"/>
            <a:r>
              <a:rPr lang="en-US" sz="2000" b="1" dirty="0"/>
              <a:t>The Challenge</a:t>
            </a:r>
            <a:r>
              <a:rPr lang="en-US" sz="2000" dirty="0"/>
              <a:t> </a:t>
            </a:r>
          </a:p>
          <a:p>
            <a:r>
              <a:rPr lang="en-IN" sz="2000" dirty="0"/>
              <a:t>Job candidates often lack targeted interview preparation matching specific resumes to exact job descriptions.</a:t>
            </a:r>
          </a:p>
          <a:p>
            <a:r>
              <a:rPr lang="en-IN" sz="2000" dirty="0"/>
              <a:t>Generic platforms present static questions without evaluating technical nuances, clarity, or depth.</a:t>
            </a:r>
            <a:endParaRPr lang="en-US" sz="2000" dirty="0"/>
          </a:p>
          <a:p>
            <a:pPr fontAlgn="base"/>
            <a:r>
              <a:rPr lang="en-US" sz="2000" b="1" dirty="0"/>
              <a:t>The Objective</a:t>
            </a:r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Build an autonomous, RAG-powered Interview Trainer Agent that delivers hyper-personalized interview preparation and real-time evaluation for students and job seekers. The solution should: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Resume &amp; JD RAG Retrieval:</a:t>
            </a:r>
            <a:r>
              <a:rPr lang="en-IN" sz="2000" dirty="0"/>
              <a:t> Process and index resumes and job postings into </a:t>
            </a:r>
            <a:r>
              <a:rPr lang="en-IN" sz="2000" dirty="0" err="1"/>
              <a:t>ChromaDB</a:t>
            </a:r>
            <a:r>
              <a:rPr lang="en-IN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Targeted Question Generation:</a:t>
            </a:r>
            <a:r>
              <a:rPr lang="en-IN" sz="2000" dirty="0"/>
              <a:t> Generate role-specific questions across technical, </a:t>
            </a:r>
            <a:r>
              <a:rPr lang="en-IN" sz="2000" dirty="0" err="1"/>
              <a:t>behavioral</a:t>
            </a:r>
            <a:r>
              <a:rPr lang="en-IN" sz="2000" dirty="0"/>
              <a:t>, and project domains.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Real-Time Evaluation:</a:t>
            </a:r>
            <a:r>
              <a:rPr lang="en-IN" sz="2000" dirty="0"/>
              <a:t> Grade answers on technical correctness, relevance, completeness, clarity, and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Adaptive Feedback:</a:t>
            </a:r>
            <a:r>
              <a:rPr lang="en-IN" sz="2000" dirty="0"/>
              <a:t> Identify candidate weaknesses and trigger follow-up questions dynamically.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US" sz="2000" b="1" dirty="0"/>
              <a:t>Proposed Solution: AI-Powered Interview Trainer Agent</a:t>
            </a:r>
            <a:r>
              <a:rPr lang="en-US" sz="2000" dirty="0"/>
              <a:t> </a:t>
            </a:r>
          </a:p>
          <a:p>
            <a:pPr fontAlgn="base"/>
            <a:endParaRPr lang="en-US" sz="2000" b="1" dirty="0"/>
          </a:p>
          <a:p>
            <a:r>
              <a:rPr lang="en-US" sz="2000" dirty="0"/>
              <a:t>The proposed solution is a multi-agent AI-powered Interview Trainer Agent built using IBM Bob, IBM watsonx.ai, and Granite Models to provide personalized, real-time interview preparation and evaluation. The system addresses challenges in generic question banks, lack of personalized feedback, and static interview prep through an intelligent, modular architecture.  </a:t>
            </a:r>
          </a:p>
          <a:p>
            <a:r>
              <a:rPr lang="en-US" sz="2000" dirty="0"/>
              <a:t>At its core, the solution uses a Retrieval-Augmented Generation (RAG) pipeline to fetch accurate context from uploaded candidate resumes and target job descriptions. This data is embedded and stored in a vector database (</a:t>
            </a:r>
            <a:r>
              <a:rPr lang="en-US" sz="2000" dirty="0" err="1"/>
              <a:t>ChromaDB</a:t>
            </a:r>
            <a:r>
              <a:rPr lang="en-US" sz="2000" dirty="0"/>
              <a:t>), enabling the system to retrieve role-specific skills, project experiences, and evaluation rubrics using Granite models to eliminate hallucinations.</a:t>
            </a:r>
          </a:p>
          <a:p>
            <a:r>
              <a:rPr lang="en-US" sz="2000" dirty="0"/>
              <a:t>The system consists of four key agents: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Resume &amp; JD RAG Agent retrieves and summarizes candidate skills, project details, and job requirements using RAG.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Question Generation Agent generates role-tailored technical, behavioral, and project-based questions based on the candidate's target role, domain, and difficulty level.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11E34B5-E253-F79B-BD0B-ACB35469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F4C900-C693-C32F-B972-15C23340A375}"/>
              </a:ext>
            </a:extLst>
          </p:cNvPr>
          <p:cNvSpPr txBox="1"/>
          <p:nvPr/>
        </p:nvSpPr>
        <p:spPr>
          <a:xfrm>
            <a:off x="576072" y="1234440"/>
            <a:ext cx="10607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Answer Evaluation Agent analyzes candidate answers across technical accuracy, relevance, completeness, clarity, and structure, offering instant scoring and error analysis.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Adaptive Feedback &amp; Reporting Agent dynamically detects weak areas, generates targeted follow-up questions to probe deeper, and delivers grounded model answers with an overall performance scorecard.  </a:t>
            </a:r>
          </a:p>
          <a:p>
            <a:r>
              <a:rPr lang="en-US" sz="2000" dirty="0"/>
              <a:t>The solution includes a user-friendly dashboard (built with </a:t>
            </a:r>
            <a:r>
              <a:rPr lang="en-US" sz="2000" dirty="0" err="1"/>
              <a:t>Streamlit</a:t>
            </a:r>
            <a:r>
              <a:rPr lang="en-US" sz="2000" dirty="0"/>
              <a:t>) that features an active interview room, an expandable "View Retrieved Context" panel for RAG transparency, and historical session tracking backed by SQLite.</a:t>
            </a:r>
          </a:p>
          <a:p>
            <a:r>
              <a:rPr lang="en-US" sz="2000" dirty="0"/>
              <a:t>The solution includes a user-friendly dashboard (built with </a:t>
            </a:r>
            <a:r>
              <a:rPr lang="en-US" sz="2000" dirty="0" err="1"/>
              <a:t>Streamlit</a:t>
            </a:r>
            <a:r>
              <a:rPr lang="en-US" sz="2000" dirty="0"/>
              <a:t> or React) that visualizes daily and weekly nutrient intake, highlights deficiencies, and tracks progress toward health goals.</a:t>
            </a:r>
          </a:p>
          <a:p>
            <a:r>
              <a:rPr lang="en-US" sz="2000" dirty="0"/>
              <a:t>IBM Bob is used to orchestrate agent workflows and scaffold code, while watsonx.ai ensures scalable model deployment, embeddings, and AI governance. Granite models power reasoning, question synthesis, and answer critique.  </a:t>
            </a:r>
          </a:p>
          <a:p>
            <a:r>
              <a:rPr lang="en-US" sz="2000" dirty="0"/>
              <a:t>Overall, this solution delivers an end-to-end intelligent interview coach that builds candidate confidence, sharpens technical communication, and increases hiring success rates through grounded insights, dynamic follow-ups, and actionable feedback.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ED84D-23B4-C1D8-6CEE-DCE4C5E369D8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01916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Bob Platform</a:t>
            </a:r>
            <a:r>
              <a:rPr lang="en-US" sz="2000" dirty="0"/>
              <a:t>: Used for designing, scaffolding, and orchestrating multi-agent workflows visually.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Granite Model </a:t>
            </a:r>
            <a:r>
              <a:rPr lang="en-US" sz="2000" dirty="0"/>
              <a:t>(e.g., </a:t>
            </a:r>
            <a:r>
              <a:rPr lang="en-US" sz="2000" dirty="0" err="1"/>
              <a:t>ibm</a:t>
            </a:r>
            <a:r>
              <a:rPr lang="en-US" sz="2000" dirty="0"/>
              <a:t>/granite-3-8b-instruct / </a:t>
            </a:r>
            <a:r>
              <a:rPr lang="en-US" sz="2000" dirty="0" err="1"/>
              <a:t>ibm</a:t>
            </a:r>
            <a:r>
              <a:rPr lang="en-US" sz="2000" dirty="0"/>
              <a:t>/granite-4-h-small): For natural language understanding, reasoning, role-specific question generation, and candidate answer evaluation.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Cloud</a:t>
            </a:r>
            <a:r>
              <a:rPr lang="en-US" sz="2000" dirty="0"/>
              <a:t>: Provides the infrastructure to build, deploy, and scale the Interview Trainer Agent efficiently, enabling a reliable and secure cloud environment.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RAG (Retrieval-Augmented Generation): </a:t>
            </a:r>
            <a:r>
              <a:rPr lang="en-US" sz="2000" dirty="0"/>
              <a:t>Used to fetch real candidate and job context from uploaded resumes and job descriptions first, then generate grounded, hallucination-free interview questions and evaluations.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watsonx.ai: </a:t>
            </a:r>
            <a:r>
              <a:rPr lang="en-US" sz="2000" dirty="0"/>
              <a:t>For foundation model deployment, text generation parameters, and AI governance.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Vector Database (</a:t>
            </a:r>
            <a:r>
              <a:rPr lang="en-US" sz="2000" b="1" dirty="0" err="1"/>
              <a:t>ChromaDB</a:t>
            </a:r>
            <a:r>
              <a:rPr lang="en-US" sz="2000" b="1" dirty="0"/>
              <a:t> / FAISS): </a:t>
            </a:r>
            <a:r>
              <a:rPr lang="en-US" sz="2000" dirty="0"/>
              <a:t>For storing document chunk embeddings and enabling semantic search across resumes and job descriptions.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Streamlit</a:t>
            </a:r>
            <a:r>
              <a:rPr lang="en-US" sz="2000" b="1" dirty="0"/>
              <a:t> &amp; Python: </a:t>
            </a:r>
            <a:r>
              <a:rPr lang="en-US" sz="2000" dirty="0"/>
              <a:t>For building the interactive front-end interview interface, real-time scorecards, and session state management.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SQLite Database: </a:t>
            </a:r>
            <a:r>
              <a:rPr lang="en-US" sz="2000" dirty="0"/>
              <a:t>For local persistent storage of interview session history, past questions, answers, and evaluations.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38EEA-9E49-FD30-5E05-36EDF69B4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543" y="1132051"/>
            <a:ext cx="9693593" cy="529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F9F16C-F5B7-58A8-2D6B-100A708FF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50" y="1265935"/>
            <a:ext cx="9664700" cy="526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9C9D8A-61A4-EF30-9BEA-5191EB55D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03" y="1032387"/>
            <a:ext cx="11336594" cy="535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77F7C-1FFF-466A-1422-4E88A2C49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602" y="866997"/>
            <a:ext cx="3962796" cy="563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Agentic AI in Interview Trainer Agent</a:t>
            </a:r>
          </a:p>
          <a:p>
            <a:r>
              <a:rPr lang="en-US" sz="2000" dirty="0"/>
              <a:t>Agentic AI transforms the Interview Trainer Agent from a passive, scripted chatbot into an intelligent, autonomous mock interviewer. Powered by IBM watsonx.ai and IBM Granite models, it drives the end-to-end interview workflow through context-aware decision-making:  </a:t>
            </a:r>
          </a:p>
          <a:p>
            <a:r>
              <a:rPr lang="en-US" sz="2000" dirty="0"/>
              <a:t>Autonomous Multi-Agent Orchestration: Coordinates specialized sub-agents (Document Ingestion, Question Synthesis, Answer Evaluation, and Reporting) to manage the interview process from document parsing to final debrief without manual intervention.  </a:t>
            </a:r>
          </a:p>
          <a:p>
            <a:r>
              <a:rPr lang="en-US" sz="2000" dirty="0"/>
              <a:t>RAG-Grounded Contextual Awareness: Ingests the candidate's resume and target job description via RAG, ensuring generated questions and evaluations are strictly anchored to verified user experience and role expectations.  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11,96,3961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CE5AE0-ED42-A88F-DC0D-7CA4A5447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51" y="2439963"/>
            <a:ext cx="5721652" cy="27784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367EBE-4A05-3291-A868-81340BA53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62536"/>
            <a:ext cx="5721652" cy="269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66E51-0581-C4E4-E9F3-734FDB40D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044263"/>
            <a:ext cx="10058400" cy="525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E7FEC-B4FE-3934-96C3-5EA46B366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46" y="1044263"/>
            <a:ext cx="9529011" cy="498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F0EBD7-165D-D40D-C4E5-4A1E1A928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24" y="1225355"/>
            <a:ext cx="10077450" cy="503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9AF560F-4EEA-32C2-C80D-DACC320EC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AFEB59E-6E28-00C7-FDB9-A607B760E08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2357A626-7959-3811-DBCF-1A871B2425BF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1D77C0-17E6-038A-3903-3A0B9050A93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5371270A-DC50-4744-A816-AF75B4237DA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D26785-F57F-0019-509A-153180E75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29963"/>
            <a:ext cx="8991600" cy="531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54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A9F78D0-2301-8272-D892-10519005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3F4F61A-E975-A3E5-3C4F-E1DA7B1A7347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CF86F1-1A5A-17A4-38D9-6BA88A39375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3731627-DD59-D6A6-B467-7177C8C6519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B9FBA665-5071-D762-FD77-1BB8C54409A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22C88A-5C6D-6D3B-F99A-1CF29CEE8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76" y="1201349"/>
            <a:ext cx="9906000" cy="479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36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834975C-0D0E-4287-E17E-D59756E2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D9E9C81-CD87-FF98-A315-7648CB5384D5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BED79A5-8A80-1BF4-3EBA-B6593A78B6EA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B7A066C9-35DD-4D0C-1C8F-3EA317ED6D9F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EEA53802-DBA8-D43F-26F6-7BD38F87A254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1100F-2D47-030A-D9EA-2ACD056E3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68" y="1044263"/>
            <a:ext cx="10096500" cy="50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9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91C9089-5125-DC97-1270-51DC11B4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384AB06D-2B35-8E24-A1D1-09707721E10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1E4D22BD-3B3B-609B-9D24-312D7722AEBF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22671591-C735-761C-88ED-4F5C9CAB7114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0EDDC1CA-2018-B0E2-1027-2639680ED57A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BC455-8868-A17B-EF90-1636BAC19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088177"/>
            <a:ext cx="10420350" cy="434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47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C2FDF6BE-51F3-20F6-88B5-90D6EFB8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CE8752C5-245A-B184-7E24-C61A65CA80A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4F0DAA2B-594B-D4C8-2E97-1FE2B0E98BB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2AA7E19E-9393-2688-CDFC-B74BC4D29FBF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936305C9-6615-5105-5944-A0A9D7B7850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0A75E-69A0-91D1-52BC-72C63A7B3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154072"/>
            <a:ext cx="10553700" cy="517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73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8FC4C7-1310-F770-B3E7-DE9BDFAF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95D852C-83E4-55EF-29AB-9BFAF3E51BAE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80CF0A6-B485-4852-1943-9B95D18B688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C7BE23D3-C264-B4F0-2564-D78B0D24E517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27CB602B-3341-F4DD-8C11-86C1604A7E90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E9E727-D41B-C913-3BEA-5B73B0CC4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80" y="816977"/>
            <a:ext cx="10973276" cy="541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70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proposed Interview Trainer Agent stands out by combining Agentic AI, RAG, and multi-metric evaluation into a single intelligent preparation system.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Multi-Agent Intelligence – Instead of a single static chatbot, multiple specialized agents collaborate (Document Ingestion, Interviewer, Evaluation, and Feedback Agents) to deliver context-aware interview guidance.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RAG-Based Accuracy – Integrates real-time document retrieval using </a:t>
            </a:r>
            <a:r>
              <a:rPr lang="en-US" sz="2000" dirty="0" err="1"/>
              <a:t>ChromaDB</a:t>
            </a:r>
            <a:r>
              <a:rPr lang="en-US" sz="2000" dirty="0"/>
              <a:t> with IBM Granite generation, ensuring questions and evaluations are grounded strictly in the candidate's uploaded resume and job description to eliminate hallucinations.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Hyper-Personalization – Tailors technical, behavioral, and project-based questions directly to the user's specific experience level, domain, and target job description.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Real-Time Feedback Loop &amp; Adaptive Branching – Dynamically detects candidate weak spots and incomplete answers, immediately generating targeted follow-up questions to probe deeper before advancing.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Transparent RAG Inspection – Offers full explainability with a dedicated "View Retrieved Context" panel that displays the exact source document, document type, and chunk ID used for each question and evaluation.  </a:t>
            </a:r>
          </a:p>
          <a:p>
            <a:r>
              <a:rPr lang="en-US" sz="2000" dirty="0"/>
              <a:t>This makes the solution a smart, adaptive, and proactive digital interview coach, not just a static question bank tool.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IN" sz="2000" dirty="0">
                <a:hlinkClick r:id="rId3"/>
              </a:rPr>
              <a:t>Dinesh-kumar-07/</a:t>
            </a:r>
            <a:r>
              <a:rPr lang="en-IN" sz="2000" dirty="0" err="1">
                <a:hlinkClick r:id="rId3"/>
              </a:rPr>
              <a:t>Interview_Trainer_Agent</a:t>
            </a:r>
            <a:r>
              <a:rPr lang="en-IN" sz="2000" dirty="0">
                <a:hlinkClick r:id="rId3"/>
              </a:rPr>
              <a:t>: The Interview Trainer Agent is an AI-powered mock interview system built to help software developers prepare for technical and </a:t>
            </a:r>
            <a:r>
              <a:rPr lang="en-IN" sz="2000" dirty="0" err="1">
                <a:hlinkClick r:id="rId3"/>
              </a:rPr>
              <a:t>behavioral</a:t>
            </a:r>
            <a:r>
              <a:rPr lang="en-IN" sz="2000" dirty="0">
                <a:hlinkClick r:id="rId3"/>
              </a:rPr>
              <a:t> rounds.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b="1" dirty="0"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Multimodal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Voice &amp; Video Evaluation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Integrate real-time speech-to-text and audio processing to analyze speaking pace, tone, filler words, and vocal confidence during spoken responses.  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Utilize computer vision models to evaluate candidate eye contact, posture, and facial expressions to deliver holistic behavioral interview feedback.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Embedded </a:t>
            </a:r>
            <a:r>
              <a:rPr lang="en-US" sz="2000" b="1" dirty="0">
                <a:latin typeface="+mn-lt"/>
                <a:ea typeface="Times New Roman"/>
                <a:cs typeface="Times New Roman"/>
                <a:sym typeface="Times New Roman"/>
              </a:rPr>
              <a:t>Interactive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Coding Sandbox: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Incorporate an in-browser code editor with execution runtimes (supporting Python, Java, C++, SQL) to test algorithmic problem-solving in real time.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Direct IBM Granite to analyze code time/space complexity, style conventions, and edge-case handling against unit test suites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ED6113-74D2-23F9-A116-79631B5C4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820" y="1185194"/>
            <a:ext cx="8875059" cy="448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750537-81E8-B988-8DD2-5D1EE7BE4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019300"/>
            <a:ext cx="90678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" y="246462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1325</Words>
  <Application>Microsoft Office PowerPoint</Application>
  <PresentationFormat>Widescreen</PresentationFormat>
  <Paragraphs>125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S0632070</cp:lastModifiedBy>
  <cp:revision>5</cp:revision>
  <dcterms:created xsi:type="dcterms:W3CDTF">2025-07-08T05:06:56Z</dcterms:created>
  <dcterms:modified xsi:type="dcterms:W3CDTF">2026-09-09T11:48:52Z</dcterms:modified>
</cp:coreProperties>
</file>